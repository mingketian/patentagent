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E68"/>
          </a:solidFill>
          <a:ln w="12700">
            <a:solidFill>
              <a:srgbClr val="0F6E6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2004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0F6E68"/>
          </a:solidFill>
          <a:ln w="12700">
            <a:solidFill>
              <a:srgbClr val="0F6E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MOTIVATION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351215" y="384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PRIOR-ART AGENT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1231575" y="457200"/>
            <a:ext cx="731520" cy="164592"/>
          </a:xfrm>
          <a:prstGeom prst="rect">
            <a:avLst/>
          </a:prstGeom>
          <a:solidFill>
            <a:srgbClr val="C8890D"/>
          </a:solidFill>
          <a:ln w="12700">
            <a:solidFill>
              <a:srgbClr val="C8890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446520"/>
            <a:ext cx="11185855" cy="0"/>
          </a:xfrm>
          <a:prstGeom prst="line">
            <a:avLst/>
          </a:prstGeom>
          <a:noFill/>
          <a:ln w="9525">
            <a:solidFill>
              <a:srgbClr val="D8CD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85855" y="64922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9601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In Previous Work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02920" y="196596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 improves patent retrieval or patent embeddings, but usually </a:t>
            </a:r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at ranking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rather than evidence-grounded analysis. </a:t>
            </a:r>
            <a:pPr indent="0" marL="0">
              <a:buNone/>
            </a:pPr>
            <a:r>
              <a:rPr lang="en-US" sz="1400" b="1" dirty="0">
                <a:solidFill>
                  <a:srgbClr val="C889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[PM20, SF23, PS24]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92608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patent LLMs broaden patent competence, but do not by themselves provide </a:t>
            </a:r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claim-to-evidence traceability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pPr indent="0" marL="0">
              <a:buNone/>
            </a:pPr>
            <a:r>
              <a:rPr lang="en-US" sz="1400" b="1" dirty="0">
                <a:solidFill>
                  <a:srgbClr val="C889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[PG24, SC26]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388620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benchmark work shows that retrieving relevant prior art is </a:t>
            </a:r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than assessing novelty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non-obviousness. </a:t>
            </a:r>
            <a:pPr indent="0" marL="0">
              <a:buNone/>
            </a:pPr>
            <a:r>
              <a:rPr lang="en-US" sz="1400" b="1" dirty="0">
                <a:solidFill>
                  <a:srgbClr val="C889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[PA25]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484632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C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Inference: 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still a gap between benchmarked patent IR methods and a </a:t>
            </a:r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usable, inspectable prior-art assistant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pPr indent="0" marL="0">
              <a:buNone/>
            </a:pPr>
            <a:r>
              <a:rPr lang="en-US" sz="1400" b="1" dirty="0">
                <a:solidFill>
                  <a:srgbClr val="C889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[PA25, DP25, SV25]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35240" y="1920240"/>
            <a:ext cx="4023360" cy="4114800"/>
          </a:xfrm>
          <a:prstGeom prst="roundRect">
            <a:avLst>
              <a:gd name="adj" fmla="val 2727"/>
            </a:avLst>
          </a:prstGeom>
          <a:solidFill>
            <a:srgbClr val="FAF6EE"/>
          </a:solidFill>
          <a:ln w="12700">
            <a:solidFill>
              <a:srgbClr val="E2D9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09560" y="2103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0F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middle layer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909560" y="24231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Prior-art systems still need a bridge between strong retrieval metrics and inspectable claim-to-evidence support.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909560" y="361188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0D9A8"/>
          </a:solidFill>
          <a:ln w="12700">
            <a:solidFill>
              <a:srgbClr val="E2C87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09560" y="361188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IR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966960" y="361188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B8D4CD"/>
          </a:solidFill>
          <a:ln w="12700">
            <a:solidFill>
              <a:srgbClr val="8FBDB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66960" y="361188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354312" y="4069080"/>
            <a:ext cx="548640" cy="0"/>
          </a:xfrm>
          <a:prstGeom prst="line">
            <a:avLst/>
          </a:prstGeom>
          <a:noFill/>
          <a:ln w="28575">
            <a:solidFill>
              <a:srgbClr val="DC5D4A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9326880" y="3566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DC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909560" y="46634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→ grounded analysis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978140" y="5303520"/>
            <a:ext cx="1051560" cy="347472"/>
          </a:xfrm>
          <a:prstGeom prst="roundRect">
            <a:avLst>
              <a:gd name="adj" fmla="val 13158"/>
            </a:avLst>
          </a:prstGeom>
          <a:solidFill>
            <a:srgbClr val="F0D9A8"/>
          </a:solidFill>
          <a:ln w="12700">
            <a:solidFill>
              <a:srgbClr val="F0D9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78140" y="530352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21140" y="5303520"/>
            <a:ext cx="1051560" cy="347472"/>
          </a:xfrm>
          <a:prstGeom prst="roundRect">
            <a:avLst>
              <a:gd name="adj" fmla="val 13158"/>
            </a:avLst>
          </a:prstGeom>
          <a:solidFill>
            <a:srgbClr val="B8D4CD"/>
          </a:solidFill>
          <a:ln w="12700">
            <a:solidFill>
              <a:srgbClr val="B8D4C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21140" y="530352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264140" y="5303520"/>
            <a:ext cx="1051560" cy="347472"/>
          </a:xfrm>
          <a:prstGeom prst="roundRect">
            <a:avLst>
              <a:gd name="adj" fmla="val 13158"/>
            </a:avLst>
          </a:prstGeom>
          <a:solidFill>
            <a:srgbClr val="F2BFB5"/>
          </a:solidFill>
          <a:ln w="12700">
            <a:solidFill>
              <a:srgbClr val="F2BFB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264140" y="530352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" y="6080760"/>
            <a:ext cx="10591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[PM20] PatentMatch 2020   [SF23] SEARCHFORMER 2023   [PS24] PatentSBERTa 2024   [PG24] PatentGPT 2024   [PA25] PANORAMA 2025   [DP25] DAPFAM 2025   [SV25] Survey 2025   [SC26] Structured LLM Comparison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E68"/>
          </a:solidFill>
          <a:ln w="12700">
            <a:solidFill>
              <a:srgbClr val="0F6E6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2004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0F6E68"/>
          </a:solidFill>
          <a:ln w="12700">
            <a:solidFill>
              <a:srgbClr val="0F6E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351215" y="384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PRIOR-ART AGENT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1231575" y="457200"/>
            <a:ext cx="731520" cy="164592"/>
          </a:xfrm>
          <a:prstGeom prst="rect">
            <a:avLst/>
          </a:prstGeom>
          <a:solidFill>
            <a:srgbClr val="C8890D"/>
          </a:solidFill>
          <a:ln w="12700">
            <a:solidFill>
              <a:srgbClr val="C8890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446520"/>
            <a:ext cx="11185855" cy="0"/>
          </a:xfrm>
          <a:prstGeom prst="line">
            <a:avLst/>
          </a:prstGeom>
          <a:noFill/>
          <a:ln w="9525">
            <a:solidFill>
              <a:srgbClr val="D8CD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85855" y="64922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9601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Prior-Art Agent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02920" y="1508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patent retrieval to evidence-grounded prior-art analysis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103120"/>
            <a:ext cx="4206240" cy="4023360"/>
          </a:xfrm>
          <a:prstGeom prst="roundRect">
            <a:avLst>
              <a:gd name="adj" fmla="val 2727"/>
            </a:avLst>
          </a:prstGeom>
          <a:solidFill>
            <a:srgbClr val="FAF6EE"/>
          </a:solidFill>
          <a:ln w="12700">
            <a:solidFill>
              <a:srgbClr val="E2D9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331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F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system exists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2743200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prior-art search is hard because relevant patents often use different language from the query.</a:t>
            </a: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retrieval returns related patents, but not a clear explanation of why they matter.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a benchmark-backed patent agent that retrieves, reranks, extracts evidence, and produces grounded analysis.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pipeline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997196" y="2514600"/>
            <a:ext cx="1207008" cy="109728"/>
          </a:xfrm>
          <a:prstGeom prst="rect">
            <a:avLst/>
          </a:prstGeom>
          <a:solidFill>
            <a:srgbClr val="C8890D"/>
          </a:solidFill>
          <a:ln w="12700">
            <a:solidFill>
              <a:srgbClr val="C8890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97196" y="2624328"/>
            <a:ext cx="1207008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90972" y="2834640"/>
            <a:ext cx="219456" cy="219456"/>
          </a:xfrm>
          <a:prstGeom prst="ellipse">
            <a:avLst/>
          </a:prstGeom>
          <a:solidFill>
            <a:srgbClr val="F0D9A8"/>
          </a:solidFill>
          <a:ln w="12700">
            <a:solidFill>
              <a:srgbClr val="F0D9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7196" y="3108960"/>
            <a:ext cx="1207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97196" y="374904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idea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13348" y="3383280"/>
            <a:ext cx="146304" cy="0"/>
          </a:xfrm>
          <a:prstGeom prst="line">
            <a:avLst/>
          </a:prstGeom>
          <a:noFill/>
          <a:ln w="22225">
            <a:solidFill>
              <a:srgbClr val="0F6E6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368796" y="2514600"/>
            <a:ext cx="1207008" cy="109728"/>
          </a:xfrm>
          <a:prstGeom prst="rect">
            <a:avLst/>
          </a:prstGeom>
          <a:solidFill>
            <a:srgbClr val="0F6E68"/>
          </a:solidFill>
          <a:ln w="12700">
            <a:solidFill>
              <a:srgbClr val="0F6E6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68796" y="2624328"/>
            <a:ext cx="1207008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62572" y="2834640"/>
            <a:ext cx="219456" cy="219456"/>
          </a:xfrm>
          <a:prstGeom prst="ellipse">
            <a:avLst/>
          </a:prstGeom>
          <a:solidFill>
            <a:srgbClr val="B8D4CD"/>
          </a:solidFill>
          <a:ln w="12700">
            <a:solidFill>
              <a:srgbClr val="B8D4C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68796" y="3108960"/>
            <a:ext cx="1207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68796" y="374904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584948" y="3383280"/>
            <a:ext cx="146304" cy="0"/>
          </a:xfrm>
          <a:prstGeom prst="line">
            <a:avLst/>
          </a:prstGeom>
          <a:noFill/>
          <a:ln w="22225">
            <a:solidFill>
              <a:srgbClr val="0F6E6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740396" y="2514600"/>
            <a:ext cx="1207008" cy="109728"/>
          </a:xfrm>
          <a:prstGeom prst="rect">
            <a:avLst/>
          </a:prstGeom>
          <a:solidFill>
            <a:srgbClr val="DC5D4A"/>
          </a:solidFill>
          <a:ln w="12700">
            <a:solidFill>
              <a:srgbClr val="DC5D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40396" y="2624328"/>
            <a:ext cx="1207008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34172" y="2834640"/>
            <a:ext cx="219456" cy="219456"/>
          </a:xfrm>
          <a:prstGeom prst="ellipse">
            <a:avLst/>
          </a:prstGeom>
          <a:solidFill>
            <a:srgbClr val="F2BFB5"/>
          </a:solidFill>
          <a:ln w="12700">
            <a:solidFill>
              <a:srgbClr val="F2BF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40396" y="3108960"/>
            <a:ext cx="1207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740396" y="374904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Rerank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956548" y="3383280"/>
            <a:ext cx="146304" cy="0"/>
          </a:xfrm>
          <a:prstGeom prst="line">
            <a:avLst/>
          </a:prstGeom>
          <a:noFill/>
          <a:ln w="22225">
            <a:solidFill>
              <a:srgbClr val="0F6E68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111996" y="2514600"/>
            <a:ext cx="1207008" cy="109728"/>
          </a:xfrm>
          <a:prstGeom prst="rect">
            <a:avLst/>
          </a:prstGeom>
          <a:solidFill>
            <a:srgbClr val="9DB3A8"/>
          </a:solidFill>
          <a:ln w="12700">
            <a:solidFill>
              <a:srgbClr val="9DB3A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11996" y="2624328"/>
            <a:ext cx="1207008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605772" y="2834640"/>
            <a:ext cx="219456" cy="219456"/>
          </a:xfrm>
          <a:prstGeom prst="ellipse">
            <a:avLst/>
          </a:prstGeom>
          <a:solidFill>
            <a:srgbClr val="B8D4CD"/>
          </a:solidFill>
          <a:ln w="12700">
            <a:solidFill>
              <a:srgbClr val="B8D4C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11996" y="3108960"/>
            <a:ext cx="1207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111996" y="374904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0328148" y="3383280"/>
            <a:ext cx="146304" cy="0"/>
          </a:xfrm>
          <a:prstGeom prst="line">
            <a:avLst/>
          </a:prstGeom>
          <a:noFill/>
          <a:ln w="22225">
            <a:solidFill>
              <a:srgbClr val="0F6E68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10483596" y="2514600"/>
            <a:ext cx="1207008" cy="109728"/>
          </a:xfrm>
          <a:prstGeom prst="rect">
            <a:avLst/>
          </a:prstGeom>
          <a:solidFill>
            <a:srgbClr val="C8890D"/>
          </a:solidFill>
          <a:ln w="12700">
            <a:solidFill>
              <a:srgbClr val="C8890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483596" y="2624328"/>
            <a:ext cx="1207008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977372" y="2834640"/>
            <a:ext cx="219456" cy="219456"/>
          </a:xfrm>
          <a:prstGeom prst="ellipse">
            <a:avLst/>
          </a:prstGeom>
          <a:solidFill>
            <a:srgbClr val="F0D9A8"/>
          </a:solidFill>
          <a:ln w="12700">
            <a:solidFill>
              <a:srgbClr val="F0D9A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483596" y="3108960"/>
            <a:ext cx="1207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483596" y="374904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029200" y="4572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F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029200" y="489204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benchmarked reranking and user-facing prior-art analysis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Source-traceable pipeline: decomposition → rerank → evidence → verify</a:t>
            </a:r>
            <a:endParaRPr lang="en-US" sz="1100" dirty="0"/>
          </a:p>
          <a:p>
            <a:pPr marL="342900" indent="-342900">
              <a:buSzPct val="100000"/>
              <a:buChar char="■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iterative search via follow-ups and working-set reuse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77240" y="5532120"/>
            <a:ext cx="1234440" cy="347472"/>
          </a:xfrm>
          <a:prstGeom prst="roundRect">
            <a:avLst>
              <a:gd name="adj" fmla="val 13158"/>
            </a:avLst>
          </a:prstGeom>
          <a:solidFill>
            <a:srgbClr val="B8D4CD"/>
          </a:solidFill>
          <a:ln w="12700">
            <a:solidFill>
              <a:srgbClr val="B8D4C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7240" y="55321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benchmark-backed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084832" y="5532120"/>
            <a:ext cx="1234440" cy="347472"/>
          </a:xfrm>
          <a:prstGeom prst="roundRect">
            <a:avLst>
              <a:gd name="adj" fmla="val 13158"/>
            </a:avLst>
          </a:prstGeom>
          <a:solidFill>
            <a:srgbClr val="F0D9A8"/>
          </a:solidFill>
          <a:ln w="12700">
            <a:solidFill>
              <a:srgbClr val="F0D9A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084832" y="55321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source-traceable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392424" y="5532120"/>
            <a:ext cx="1234440" cy="347472"/>
          </a:xfrm>
          <a:prstGeom prst="roundRect">
            <a:avLst>
              <a:gd name="adj" fmla="val 13158"/>
            </a:avLst>
          </a:prstGeom>
          <a:solidFill>
            <a:srgbClr val="F2BFB5"/>
          </a:solidFill>
          <a:ln w="12700">
            <a:solidFill>
              <a:srgbClr val="F2BFB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392424" y="55321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inspectable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E68"/>
          </a:solidFill>
          <a:ln w="12700">
            <a:solidFill>
              <a:srgbClr val="0F6E6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2004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0F6E68"/>
          </a:solidFill>
          <a:ln w="12700">
            <a:solidFill>
              <a:srgbClr val="0F6E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351215" y="384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PRIOR-ART AGENT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1231575" y="457200"/>
            <a:ext cx="731520" cy="164592"/>
          </a:xfrm>
          <a:prstGeom prst="rect">
            <a:avLst/>
          </a:prstGeom>
          <a:solidFill>
            <a:srgbClr val="C8890D"/>
          </a:solidFill>
          <a:ln w="12700">
            <a:solidFill>
              <a:srgbClr val="C8890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446520"/>
            <a:ext cx="11185855" cy="0"/>
          </a:xfrm>
          <a:prstGeom prst="line">
            <a:avLst/>
          </a:prstGeom>
          <a:noFill/>
          <a:ln w="9525">
            <a:solidFill>
              <a:srgbClr val="D8CD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85855" y="64922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9601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Impact &amp; Problem Solving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02920" y="1508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 and how we solve the problem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103120"/>
            <a:ext cx="5577840" cy="4023360"/>
          </a:xfrm>
          <a:prstGeom prst="roundRect">
            <a:avLst>
              <a:gd name="adj" fmla="val 2727"/>
            </a:avLst>
          </a:prstGeom>
          <a:solidFill>
            <a:srgbClr val="FAF6EE"/>
          </a:solidFill>
          <a:ln w="12700">
            <a:solidFill>
              <a:srgbClr val="E2D9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103120"/>
            <a:ext cx="5577840" cy="109728"/>
          </a:xfrm>
          <a:prstGeom prst="rect">
            <a:avLst/>
          </a:prstGeom>
          <a:solidFill>
            <a:srgbClr val="C8890D"/>
          </a:solidFill>
          <a:ln w="12700">
            <a:solidFill>
              <a:srgbClr val="C8890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2450592"/>
            <a:ext cx="201168" cy="201168"/>
          </a:xfrm>
          <a:prstGeom prst="ellipse">
            <a:avLst/>
          </a:prstGeom>
          <a:solidFill>
            <a:srgbClr val="F0D9A8"/>
          </a:solidFill>
          <a:ln w="12700">
            <a:solidFill>
              <a:srgbClr val="F0D9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23774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28803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Inventors, researchers, students, and patent analysts doing first-pass prior-art exploration.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36576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F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agent supports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8680" y="4023360"/>
            <a:ext cx="23317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E2D9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5840" y="4187952"/>
            <a:ext cx="146304" cy="146304"/>
          </a:xfrm>
          <a:prstGeom prst="ellipse">
            <a:avLst/>
          </a:prstGeom>
          <a:solidFill>
            <a:srgbClr val="C8890D"/>
          </a:solidFill>
          <a:ln w="12700">
            <a:solidFill>
              <a:srgbClr val="C8890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34440" y="402336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patent idea search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83280" y="4023360"/>
            <a:ext cx="23317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E2D9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0440" y="4187952"/>
            <a:ext cx="146304" cy="146304"/>
          </a:xfrm>
          <a:prstGeom prst="ellipse">
            <a:avLst/>
          </a:prstGeom>
          <a:solidFill>
            <a:srgbClr val="C8890D"/>
          </a:solidFill>
          <a:ln w="12700">
            <a:solidFill>
              <a:srgbClr val="C8890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49040" y="402336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Claim-style search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68680" y="4590288"/>
            <a:ext cx="23317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E2D9C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" y="4754880"/>
            <a:ext cx="146304" cy="146304"/>
          </a:xfrm>
          <a:prstGeom prst="ellipse">
            <a:avLst/>
          </a:prstGeom>
          <a:solidFill>
            <a:srgbClr val="C8890D"/>
          </a:solidFill>
          <a:ln w="12700">
            <a:solidFill>
              <a:srgbClr val="C8890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34440" y="459028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patent discovery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83280" y="4590288"/>
            <a:ext cx="23317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E2D9C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0440" y="4754880"/>
            <a:ext cx="146304" cy="146304"/>
          </a:xfrm>
          <a:prstGeom prst="ellipse">
            <a:avLst/>
          </a:prstGeom>
          <a:solidFill>
            <a:srgbClr val="C8890D"/>
          </a:solidFill>
          <a:ln w="12700">
            <a:solidFill>
              <a:srgbClr val="C8890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49040" y="459028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questions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68680" y="5157216"/>
            <a:ext cx="23317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E2D9C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5840" y="5321808"/>
            <a:ext cx="146304" cy="146304"/>
          </a:xfrm>
          <a:prstGeom prst="ellipse">
            <a:avLst/>
          </a:prstGeom>
          <a:solidFill>
            <a:srgbClr val="C8890D"/>
          </a:solidFill>
          <a:ln w="12700">
            <a:solidFill>
              <a:srgbClr val="C8890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34440" y="5157216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across patents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383280" y="5157216"/>
            <a:ext cx="23317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E2D9C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20440" y="5321808"/>
            <a:ext cx="146304" cy="146304"/>
          </a:xfrm>
          <a:prstGeom prst="ellipse">
            <a:avLst/>
          </a:prstGeom>
          <a:solidFill>
            <a:srgbClr val="C8890D"/>
          </a:solidFill>
          <a:ln w="12700">
            <a:solidFill>
              <a:srgbClr val="C8890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49040" y="5157216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 exploration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63640" y="2103120"/>
            <a:ext cx="5394960" cy="4023360"/>
          </a:xfrm>
          <a:prstGeom prst="roundRect">
            <a:avLst>
              <a:gd name="adj" fmla="val 2727"/>
            </a:avLst>
          </a:prstGeom>
          <a:solidFill>
            <a:srgbClr val="FAF6EE"/>
          </a:solidFill>
          <a:ln w="12700">
            <a:solidFill>
              <a:srgbClr val="E2D9C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63640" y="2103120"/>
            <a:ext cx="5394960" cy="109728"/>
          </a:xfrm>
          <a:prstGeom prst="rect">
            <a:avLst/>
          </a:prstGeom>
          <a:solidFill>
            <a:srgbClr val="0F6E68"/>
          </a:solidFill>
          <a:ln w="12700">
            <a:solidFill>
              <a:srgbClr val="0F6E6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83680" y="2450592"/>
            <a:ext cx="201168" cy="201168"/>
          </a:xfrm>
          <a:prstGeom prst="ellipse">
            <a:avLst/>
          </a:prstGeom>
          <a:solidFill>
            <a:srgbClr val="B8D4CD"/>
          </a:solidFill>
          <a:ln w="12700">
            <a:solidFill>
              <a:srgbClr val="B8D4C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03720" y="23774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/ Impact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629400" y="288036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only returning ranked patents, the system helps users inspect supporting evidence, compare candidates, and ask follow-up questions with context.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patent search more explainable, auditable, and useful for early-stage prior-art review.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629400" y="43891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F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delivers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629400" y="4754880"/>
            <a:ext cx="1493520" cy="502920"/>
          </a:xfrm>
          <a:prstGeom prst="roundRect">
            <a:avLst>
              <a:gd name="adj" fmla="val 10909"/>
            </a:avLst>
          </a:prstGeom>
          <a:solidFill>
            <a:srgbClr val="B8D4CD"/>
          </a:solidFill>
          <a:ln w="12700">
            <a:solidFill>
              <a:srgbClr val="B8D4C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29400" y="4754880"/>
            <a:ext cx="149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patents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214360" y="4754880"/>
            <a:ext cx="1493520" cy="502920"/>
          </a:xfrm>
          <a:prstGeom prst="roundRect">
            <a:avLst>
              <a:gd name="adj" fmla="val 10909"/>
            </a:avLst>
          </a:prstGeom>
          <a:solidFill>
            <a:srgbClr val="F0D9A8"/>
          </a:solidFill>
          <a:ln w="12700">
            <a:solidFill>
              <a:srgbClr val="F0D9A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14360" y="4754880"/>
            <a:ext cx="149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snippets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9799320" y="4754880"/>
            <a:ext cx="1493520" cy="502920"/>
          </a:xfrm>
          <a:prstGeom prst="roundRect">
            <a:avLst>
              <a:gd name="adj" fmla="val 10909"/>
            </a:avLst>
          </a:prstGeom>
          <a:solidFill>
            <a:srgbClr val="F2BFB5"/>
          </a:solidFill>
          <a:ln w="12700">
            <a:solidFill>
              <a:srgbClr val="F2BFB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799320" y="4754880"/>
            <a:ext cx="149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Claim-evidence labels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629400" y="54864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Positioned as first-pass prior-art triage — not legal advice.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E68"/>
          </a:solidFill>
          <a:ln w="12700">
            <a:solidFill>
              <a:srgbClr val="0F6E6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2004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0F6E68"/>
          </a:solidFill>
          <a:ln w="12700">
            <a:solidFill>
              <a:srgbClr val="0F6E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351215" y="384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PRIOR-ART AGENT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1231575" y="457200"/>
            <a:ext cx="731520" cy="164592"/>
          </a:xfrm>
          <a:prstGeom prst="rect">
            <a:avLst/>
          </a:prstGeom>
          <a:solidFill>
            <a:srgbClr val="C8890D"/>
          </a:solidFill>
          <a:ln w="12700">
            <a:solidFill>
              <a:srgbClr val="C8890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446520"/>
            <a:ext cx="11185855" cy="0"/>
          </a:xfrm>
          <a:prstGeom prst="line">
            <a:avLst/>
          </a:prstGeom>
          <a:noFill/>
          <a:ln w="9525">
            <a:solidFill>
              <a:srgbClr val="D8CD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85855" y="64922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9601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Challenges, and Solutions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02920" y="1417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split: 3,029 PAR4PC cases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28800"/>
          <a:ext cx="11185855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993392"/>
                <a:gridCol w="1993392"/>
                <a:gridCol w="1993392"/>
                <a:gridCol w="199339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Hit@1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Hit@3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Recall@3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Exact@|gold|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PatentSBERTa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D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Patent Reranker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8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02920" y="416052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learned reranker is best on all four metrics.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2920" y="4663440"/>
            <a:ext cx="3606698" cy="1554480"/>
          </a:xfrm>
          <a:prstGeom prst="roundRect">
            <a:avLst>
              <a:gd name="adj" fmla="val 5882"/>
            </a:avLst>
          </a:prstGeom>
          <a:solidFill>
            <a:srgbClr val="FAF6EE"/>
          </a:solidFill>
          <a:ln w="12700">
            <a:solidFill>
              <a:srgbClr val="E2D9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77240" y="4937760"/>
            <a:ext cx="201168" cy="201168"/>
          </a:xfrm>
          <a:prstGeom prst="ellipse">
            <a:avLst/>
          </a:prstGeom>
          <a:solidFill>
            <a:srgbClr val="F0D9A8"/>
          </a:solidFill>
          <a:ln w="12700">
            <a:solidFill>
              <a:srgbClr val="F0D9A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97280" y="4864608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wording mismatch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77240" y="534924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89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semantic retrieval with a learned reranker using dense, BM25, and field-lexical signals.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292498" y="4663440"/>
            <a:ext cx="3606698" cy="1554480"/>
          </a:xfrm>
          <a:prstGeom prst="roundRect">
            <a:avLst>
              <a:gd name="adj" fmla="val 5882"/>
            </a:avLst>
          </a:prstGeom>
          <a:solidFill>
            <a:srgbClr val="FAF6EE"/>
          </a:solidFill>
          <a:ln w="12700">
            <a:solidFill>
              <a:srgbClr val="E2D9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66818" y="4937760"/>
            <a:ext cx="201168" cy="201168"/>
          </a:xfrm>
          <a:prstGeom prst="ellipse">
            <a:avLst/>
          </a:prstGeom>
          <a:solidFill>
            <a:srgbClr val="B8D4CD"/>
          </a:solidFill>
          <a:ln w="12700">
            <a:solidFill>
              <a:srgbClr val="B8D4C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86858" y="4864608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alone is not enough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566818" y="534924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title / abstract / claim evidence instead of only returning ranked patent IDs.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082077" y="4663440"/>
            <a:ext cx="3606698" cy="1554480"/>
          </a:xfrm>
          <a:prstGeom prst="roundRect">
            <a:avLst>
              <a:gd name="adj" fmla="val 5882"/>
            </a:avLst>
          </a:prstGeom>
          <a:solidFill>
            <a:srgbClr val="FAF6EE"/>
          </a:solidFill>
          <a:ln w="12700">
            <a:solidFill>
              <a:srgbClr val="E2D9C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356397" y="4937760"/>
            <a:ext cx="201168" cy="201168"/>
          </a:xfrm>
          <a:prstGeom prst="ellipse">
            <a:avLst/>
          </a:prstGeom>
          <a:solidFill>
            <a:srgbClr val="F2BFB5"/>
          </a:solidFill>
          <a:ln w="12700">
            <a:solidFill>
              <a:srgbClr val="F2BFB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676437" y="4864608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search is iterative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356397" y="534924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C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follow-up questions with planner logic and working-set reuse.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E68"/>
          </a:solidFill>
          <a:ln w="12700">
            <a:solidFill>
              <a:srgbClr val="0F6E6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2004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0F6E68"/>
          </a:solidFill>
          <a:ln w="12700">
            <a:solidFill>
              <a:srgbClr val="0F6E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EVALUATION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351215" y="384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PRIOR-ART AGENT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1231575" y="457200"/>
            <a:ext cx="731520" cy="164592"/>
          </a:xfrm>
          <a:prstGeom prst="rect">
            <a:avLst/>
          </a:prstGeom>
          <a:solidFill>
            <a:srgbClr val="C8890D"/>
          </a:solidFill>
          <a:ln w="12700">
            <a:solidFill>
              <a:srgbClr val="C8890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446520"/>
            <a:ext cx="11185855" cy="0"/>
          </a:xfrm>
          <a:prstGeom prst="line">
            <a:avLst/>
          </a:prstGeom>
          <a:noFill/>
          <a:ln w="9525">
            <a:solidFill>
              <a:srgbClr val="D8CD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85855" y="64922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9601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Evaluation Result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02920" y="1508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QA prompts  ·  Our agent vs ChatGPT Auto, Gemini Fast, RAG-only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103120"/>
            <a:ext cx="6035040" cy="4023360"/>
          </a:xfrm>
          <a:prstGeom prst="roundRect">
            <a:avLst>
              <a:gd name="adj" fmla="val 2727"/>
            </a:avLst>
          </a:prstGeom>
          <a:solidFill>
            <a:srgbClr val="FAF6EE"/>
          </a:solidFill>
          <a:ln w="12700">
            <a:solidFill>
              <a:srgbClr val="E2D9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103120"/>
            <a:ext cx="6035040" cy="109728"/>
          </a:xfrm>
          <a:prstGeom prst="rect">
            <a:avLst/>
          </a:prstGeom>
          <a:solidFill>
            <a:srgbClr val="0F6E68"/>
          </a:solidFill>
          <a:ln w="12700">
            <a:solidFill>
              <a:srgbClr val="0F6E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3317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0F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findings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68680" y="2926080"/>
            <a:ext cx="146304" cy="146304"/>
          </a:xfrm>
          <a:prstGeom prst="ellipse">
            <a:avLst/>
          </a:prstGeom>
          <a:solidFill>
            <a:srgbClr val="0F6E68"/>
          </a:solidFill>
          <a:ln w="12700">
            <a:solidFill>
              <a:srgbClr val="0F6E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2788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stronger grounding  </a:t>
            </a:r>
            <a:pPr algn="l"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16/20 grounded vs. ChatGPT Auto 1/20, Gemini Fast 0/20, RAG-only 5/20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68680" y="3456432"/>
            <a:ext cx="146304" cy="146304"/>
          </a:xfrm>
          <a:prstGeom prst="ellipse">
            <a:avLst/>
          </a:prstGeom>
          <a:solidFill>
            <a:srgbClr val="C8890D"/>
          </a:solidFill>
          <a:ln w="12700">
            <a:solidFill>
              <a:srgbClr val="C8890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31927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fully ungrounded answers  </a:t>
            </a:r>
            <a:pPr algn="l"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0/20 ungrounded vs. ChatGPT Auto 7/20, Gemini Fast 12/20, RAG-only 4/20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68680" y="3986784"/>
            <a:ext cx="146304" cy="146304"/>
          </a:xfrm>
          <a:prstGeom prst="ellipse">
            <a:avLst/>
          </a:prstGeom>
          <a:solidFill>
            <a:srgbClr val="DC5D4A"/>
          </a:solidFill>
          <a:ln w="12700">
            <a:solidFill>
              <a:srgbClr val="DC5D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384962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fewer hallucinations  </a:t>
            </a:r>
            <a:pPr algn="l"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16/20 no hallucination · 0/20 major hallucination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68680" y="4517136"/>
            <a:ext cx="146304" cy="146304"/>
          </a:xfrm>
          <a:prstGeom prst="ellipse">
            <a:avLst/>
          </a:prstGeom>
          <a:solidFill>
            <a:srgbClr val="9DB3A8"/>
          </a:solidFill>
          <a:ln w="12700">
            <a:solidFill>
              <a:srgbClr val="9DB3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37997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overall usefulness  </a:t>
            </a:r>
            <a:pPr algn="l"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14/20 helpful vs. ChatGPT Auto 11/20, Gemini Fast 3/20, RAG-only 0/20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68680" y="5047488"/>
            <a:ext cx="146304" cy="146304"/>
          </a:xfrm>
          <a:prstGeom prst="ellipse">
            <a:avLst/>
          </a:prstGeom>
          <a:solidFill>
            <a:srgbClr val="0F6E68"/>
          </a:solidFill>
          <a:ln w="12700">
            <a:solidFill>
              <a:srgbClr val="0F6E6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491032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context reuse  </a:t>
            </a:r>
            <a:pPr algn="l"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19/20 good context reuse — strongest multi-turn consistency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68680" y="5577840"/>
            <a:ext cx="146304" cy="146304"/>
          </a:xfrm>
          <a:prstGeom prst="ellipse">
            <a:avLst/>
          </a:prstGeom>
          <a:solidFill>
            <a:srgbClr val="C8890D"/>
          </a:solidFill>
          <a:ln w="12700">
            <a:solidFill>
              <a:srgbClr val="C8890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544068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usefulness + reliability  </a:t>
            </a:r>
            <a:pPr algn="l"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helpful than RAG-only, safer and more grounded than ChatGPT Auto / Gemini Fast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720840" y="2103120"/>
            <a:ext cx="4937760" cy="4023360"/>
          </a:xfrm>
          <a:prstGeom prst="roundRect">
            <a:avLst>
              <a:gd name="adj" fmla="val 2727"/>
            </a:avLst>
          </a:prstGeom>
          <a:solidFill>
            <a:srgbClr val="FAF6EE"/>
          </a:solidFill>
          <a:ln w="12700">
            <a:solidFill>
              <a:srgbClr val="E2D9C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20840" y="2103120"/>
            <a:ext cx="4937760" cy="109728"/>
          </a:xfrm>
          <a:prstGeom prst="rect">
            <a:avLst/>
          </a:prstGeom>
          <a:solidFill>
            <a:srgbClr val="C8890D"/>
          </a:solidFill>
          <a:ln w="12700">
            <a:solidFill>
              <a:srgbClr val="C8890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40880" y="23317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0F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 on 20 prompts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95160" y="2834640"/>
          <a:ext cx="4389120" cy="914400"/>
        </p:xfrm>
        <a:graphic>
          <a:graphicData uri="http://schemas.openxmlformats.org/drawingml/2006/table">
            <a:tbl>
              <a:tblPr/>
              <a:tblGrid>
                <a:gridCol w="1492301"/>
                <a:gridCol w="746150"/>
                <a:gridCol w="746150"/>
                <a:gridCol w="702259"/>
                <a:gridCol w="702259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16/20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4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F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5/20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Ungrounded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4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7/20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12/20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F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4/20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Helpful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14/20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4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11/20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FB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hallucination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16/20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4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F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19/20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 halluc.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4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7/20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13/20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F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context reuse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19/20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4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6995160" y="5623560"/>
            <a:ext cx="164592" cy="164592"/>
          </a:xfrm>
          <a:prstGeom prst="ellipse">
            <a:avLst/>
          </a:prstGeom>
          <a:solidFill>
            <a:srgbClr val="B8D4CD"/>
          </a:solidFill>
          <a:ln w="12700">
            <a:solidFill>
              <a:srgbClr val="B8D4C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196328" y="55778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7909560" y="5623560"/>
            <a:ext cx="164592" cy="164592"/>
          </a:xfrm>
          <a:prstGeom prst="ellipse">
            <a:avLst/>
          </a:prstGeom>
          <a:solidFill>
            <a:srgbClr val="F2BFB5"/>
          </a:solidFill>
          <a:ln w="12700">
            <a:solidFill>
              <a:srgbClr val="F2BFB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110728" y="55778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Patent Prior-Art Agent</dc:title>
  <dc:subject>PptxGenJS Presentation</dc:subject>
  <dc:creator>Mingke</dc:creator>
  <cp:lastModifiedBy>Mingke</cp:lastModifiedBy>
  <cp:revision>1</cp:revision>
  <dcterms:created xsi:type="dcterms:W3CDTF">2026-04-20T03:06:53Z</dcterms:created>
  <dcterms:modified xsi:type="dcterms:W3CDTF">2026-04-20T03:06:53Z</dcterms:modified>
</cp:coreProperties>
</file>